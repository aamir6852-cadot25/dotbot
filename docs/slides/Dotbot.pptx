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e1507d9-a7d7-437d-2ff5-bf79a5d1141b}">
          <p14:sldIdLst>
            <p14:sldId id="256"/>
          </p14:sldIdLst>
        </p14:section>
        <p14:section name="Problem" id="{3fbdef2e-a1e4-51ee-d62b-7d6c2a1639bb}">
          <p14:sldIdLst>
            <p14:sldId id="257"/>
            <p14:sldId id="258"/>
          </p14:sldIdLst>
        </p14:section>
        <p14:section name="Design" id="{9327ca31-8593-61ab-6f84-b43c05573641}">
          <p14:sldIdLst>
            <p14:sldId id="259"/>
            <p14:sldId id="260"/>
            <p14:sldId id="261"/>
            <p14:sldId id="262"/>
            <p14:sldId id="263"/>
          </p14:sldIdLst>
        </p14:section>
        <p14:section name="Demo and results" id="{6c2ba1e9-265a-1042-c2e3-e78153390140}">
          <p14:sldIdLst>
            <p14:sldId id="264"/>
            <p14:sldId id="265"/>
            <p14:sldId id="266"/>
          </p14:sldIdLst>
        </p14:section>
        <p14:section name="Responsibility" id="{4e087ffa-3912-0431-e08a-86027c2cd6d4}">
          <p14:sldIdLst>
            <p14:sldId id="267"/>
            <p14:sldId id="268"/>
            <p14:sldId id="269"/>
          </p14:sldIdLst>
        </p14:section>
        <p14:section name="Close" id="{c8146cce-6ade-6bf8-817d-8b4c144bcc5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04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3204A"/>
                </a:solidFill>
                <a:latin typeface="+mn-lt"/>
              </a:rPr>
              <a:t>Messages (= LLM calls) per day, 60 simulated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Dotbot</c:v>
                </c:pt>
              </c:strCache>
            </c:strRef>
          </c:tx>
          <c:spPr>
            <a:solidFill>
              <a:srgbClr val="4B3F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B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Disciplined</c:v>
                  </c:pt>
                  <c:pt idx="1">
                    <c:v>Average</c:v>
                  </c:pt>
                  <c:pt idx="2">
                    <c:v>Struggling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</c:v>
                </c:pt>
                <c:pt idx="1">
                  <c:v>2.3</c:v>
                </c:pt>
                <c:pt idx="2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Always-nudge bot</c:v>
                </c:pt>
              </c:strCache>
            </c:strRef>
          </c:tx>
          <c:spPr>
            <a:solidFill>
              <a:srgbClr val="D954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B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Disciplined</c:v>
                  </c:pt>
                  <c:pt idx="1">
                    <c:v>Average</c:v>
                  </c:pt>
                  <c:pt idx="2">
                    <c:v>Struggling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8.2</c:v>
                </c:pt>
                <c:pt idx="1">
                  <c:v>8.6</c:v>
                </c:pt>
                <c:pt idx="2">
                  <c:v>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Fixed reminders</c:v>
                </c:pt>
              </c:strCache>
            </c:strRef>
          </c:tx>
          <c:spPr>
            <a:solidFill>
              <a:srgbClr val="8C86C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B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Disciplined</c:v>
                  </c:pt>
                  <c:pt idx="1">
                    <c:v>Average</c:v>
                  </c:pt>
                  <c:pt idx="2">
                    <c:v>Struggling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C1B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8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AI app wants more of your time. Dotbot wants less. It stays quiet, speaks at the right moment, and works to make you 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prep: Java and DSA, low motivation, loneliness, phone distraction. Existing tools either nag, or answer everything and make you 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properties are what make it an agent: it perceives, decides on its own, acts with tools, remembers, and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Runs every 15 minutes in the background on Android (WorkManager) and on a timer on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ReAct pattern. The same trace is shown under every reply in the app, so the user can see why it did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non-intervention gives the student a chance to fix the slip themselves. That's productive struggle.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scaffolding (Wood, Bruner and Ross) and productive failure (Kapur): support just enough, then withdraw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Inspired by Generative Agents (memory) and Reflexion (self-feedback). The strategy note is injected into the next day's system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app: You tab, Simulate a student's day, Start. Narrate the 12:30 deliberate silence and the 23:30 reflection. Follow docs/DEMO_SCRIPT.md.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simulation with stated assumptions, not a user study. Same random seeds for every strategy. Full table in docs/EVALUATION.md.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we evaluate: a reasonable-looking rule caused the agent to fail the user who needed it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Suggest-only by design: no screen locking, no accessibility permissions. Only internet and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decision records and a decision log are in the repo, plus the report and evaluation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Dotbot · AI mentor agent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Dotbot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An AI mentor agent that wants you to need it less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Aamir · B.Tech CSE, 2nd year</a:t>
            </a:r>
            <a:endParaRPr lang="en-US" sz="2000" dirty="0"/>
          </a:p>
        </p:txBody>
      </p:sp>
      <p:sp>
        <p:nvSpPr>
          <p:cNvPr id="4" name="Logo circle"/>
          <p:cNvSpPr/>
          <p:nvPr/>
        </p:nvSpPr>
        <p:spPr>
          <a:xfrm>
            <a:off x="7498080" y="4572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365" y="678485"/>
            <a:ext cx="563270" cy="563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need a mentor, not another app</a:t>
            </a:r>
            <a:endParaRPr lang="en-US" sz="32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234440"/>
            <a:ext cx="2606040" cy="31089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roblem 1 circle"/>
          <p:cNvSpPr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6139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Reminder apps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Fixed times, no context. Easy to swipe away and forget.</a:t>
            </a:r>
            <a:endParaRPr lang="en-US" sz="1500" dirty="0"/>
          </a:p>
        </p:txBody>
      </p:sp>
      <p:sp>
        <p:nvSpPr>
          <p:cNvPr id="8" name="Problem card 2"/>
          <p:cNvSpPr/>
          <p:nvPr/>
        </p:nvSpPr>
        <p:spPr>
          <a:xfrm>
            <a:off x="3273552" y="1234440"/>
            <a:ext cx="2606040" cy="31089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roblem 2 circle"/>
          <p:cNvSpPr/>
          <p:nvPr/>
        </p:nvSpPr>
        <p:spPr>
          <a:xfrm>
            <a:off x="3547872" y="14630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16139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47872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47872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 instantly and fully. Reactive, and they build dependence.</a:t>
            </a:r>
            <a:endParaRPr lang="en-US" sz="1500" dirty="0"/>
          </a:p>
        </p:txBody>
      </p:sp>
      <p:sp>
        <p:nvSpPr>
          <p:cNvPr id="13" name="Problem card 3"/>
          <p:cNvSpPr/>
          <p:nvPr/>
        </p:nvSpPr>
        <p:spPr>
          <a:xfrm>
            <a:off x="6089904" y="1234440"/>
            <a:ext cx="2606040" cy="31089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roblem 3 circle"/>
          <p:cNvSpPr/>
          <p:nvPr/>
        </p:nvSpPr>
        <p:spPr>
          <a:xfrm>
            <a:off x="6364224" y="14630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61391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64224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coaching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64224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Works, but costly and not there at 11 pm before an exam.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agent, not a chatbot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3931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Property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Typical chatbot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Dotbot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Initiative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Replies only when asked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Decides when to start, and when to stay silent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Perception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current message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Tasks, deadlines, quizzes, mood, journal, time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13 tools that change real data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session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Long-term, visible, deletable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Learning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Grades its own nudges every night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Engagement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Your independence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Perceive, decide, act, remember, reflect</a:t>
            </a:r>
            <a:endParaRPr lang="en-US" sz="3200" dirty="0"/>
          </a:p>
        </p:txBody>
      </p:sp>
      <p:sp>
        <p:nvSpPr>
          <p:cNvPr id="3" name="Step Perceive circle"/>
          <p:cNvSpPr/>
          <p:nvPr/>
        </p:nvSpPr>
        <p:spPr>
          <a:xfrm>
            <a:off x="868680" y="132588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Step Perceiv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1496873"/>
            <a:ext cx="435254" cy="435254"/>
          </a:xfrm>
          <a:prstGeom prst="rect">
            <a:avLst/>
          </a:prstGeom>
        </p:spPr>
      </p:pic>
      <p:sp>
        <p:nvSpPr>
          <p:cNvPr id="5" name="Arrow 1"/>
          <p:cNvSpPr/>
          <p:nvPr/>
        </p:nvSpPr>
        <p:spPr>
          <a:xfrm>
            <a:off x="1783080" y="1600200"/>
            <a:ext cx="320040" cy="228600"/>
          </a:xfrm>
          <a:prstGeom prst="rightArrow">
            <a:avLst/>
          </a:prstGeom>
          <a:solidFill>
            <a:srgbClr val="C9C5E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Tasks, quiz scores, mood, journal, clock</a:t>
            </a:r>
            <a:endParaRPr lang="en-US" sz="1400" dirty="0"/>
          </a:p>
        </p:txBody>
      </p:sp>
      <p:sp>
        <p:nvSpPr>
          <p:cNvPr id="8" name="Step Decide circle"/>
          <p:cNvSpPr/>
          <p:nvPr/>
        </p:nvSpPr>
        <p:spPr>
          <a:xfrm>
            <a:off x="2560320" y="13258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Step Decid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313" y="1496873"/>
            <a:ext cx="435254" cy="435254"/>
          </a:xfrm>
          <a:prstGeom prst="rect">
            <a:avLst/>
          </a:prstGeom>
        </p:spPr>
      </p:pic>
      <p:sp>
        <p:nvSpPr>
          <p:cNvPr id="10" name="Arrow 2"/>
          <p:cNvSpPr/>
          <p:nvPr/>
        </p:nvSpPr>
        <p:spPr>
          <a:xfrm>
            <a:off x="3474720" y="1600200"/>
            <a:ext cx="320040" cy="228600"/>
          </a:xfrm>
          <a:prstGeom prst="rightArrow">
            <a:avLst/>
          </a:prstGeom>
          <a:solidFill>
            <a:srgbClr val="C9C5E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2148840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19456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Rule-based policy: speak, or stay silent</a:t>
            </a:r>
            <a:endParaRPr lang="en-US" sz="1400" dirty="0"/>
          </a:p>
        </p:txBody>
      </p:sp>
      <p:sp>
        <p:nvSpPr>
          <p:cNvPr id="13" name="Step Act circle"/>
          <p:cNvSpPr/>
          <p:nvPr/>
        </p:nvSpPr>
        <p:spPr>
          <a:xfrm>
            <a:off x="4251960" y="13258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Step Ac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953" y="1496873"/>
            <a:ext cx="435254" cy="435254"/>
          </a:xfrm>
          <a:prstGeom prst="rect">
            <a:avLst/>
          </a:prstGeom>
        </p:spPr>
      </p:pic>
      <p:sp>
        <p:nvSpPr>
          <p:cNvPr id="15" name="Arrow 3"/>
          <p:cNvSpPr/>
          <p:nvPr/>
        </p:nvSpPr>
        <p:spPr>
          <a:xfrm>
            <a:off x="5166360" y="1600200"/>
            <a:ext cx="320040" cy="228600"/>
          </a:xfrm>
          <a:prstGeom prst="rightArrow">
            <a:avLst/>
          </a:prstGeom>
          <a:solidFill>
            <a:srgbClr val="C9C5E6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840480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88620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 agent calls tools (≤ 6 steps)</a:t>
            </a:r>
            <a:endParaRPr lang="en-US" sz="1400" dirty="0"/>
          </a:p>
        </p:txBody>
      </p:sp>
      <p:sp>
        <p:nvSpPr>
          <p:cNvPr id="18" name="Step Remember circle"/>
          <p:cNvSpPr/>
          <p:nvPr/>
        </p:nvSpPr>
        <p:spPr>
          <a:xfrm>
            <a:off x="5943600" y="13258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Step Remembe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93" y="1496873"/>
            <a:ext cx="435254" cy="435254"/>
          </a:xfrm>
          <a:prstGeom prst="rect">
            <a:avLst/>
          </a:prstGeom>
        </p:spPr>
      </p:pic>
      <p:sp>
        <p:nvSpPr>
          <p:cNvPr id="20" name="Arrow 4"/>
          <p:cNvSpPr/>
          <p:nvPr/>
        </p:nvSpPr>
        <p:spPr>
          <a:xfrm>
            <a:off x="6858000" y="1600200"/>
            <a:ext cx="320040" cy="228600"/>
          </a:xfrm>
          <a:prstGeom prst="rightArrow">
            <a:avLst/>
          </a:prstGeom>
          <a:solidFill>
            <a:srgbClr val="C9C5E6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532120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model + facts in on-device SQLite</a:t>
            </a:r>
            <a:endParaRPr lang="en-US" sz="1400" dirty="0"/>
          </a:p>
        </p:txBody>
      </p:sp>
      <p:sp>
        <p:nvSpPr>
          <p:cNvPr id="23" name="Step Reflect circle"/>
          <p:cNvSpPr/>
          <p:nvPr/>
        </p:nvSpPr>
        <p:spPr>
          <a:xfrm>
            <a:off x="7635240" y="13258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Step Reflec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6233" y="1496873"/>
            <a:ext cx="435254" cy="43525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23760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26948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Grades its nudges, adapts tomorrow</a:t>
            </a:r>
            <a:endParaRPr lang="en-US" sz="1400" dirty="0"/>
          </a:p>
        </p:txBody>
      </p:sp>
      <p:sp>
        <p:nvSpPr>
          <p:cNvPr id="27" name="Key insight card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685800" y="3794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Key idea: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rules decide WHEN (free, testable, explainable); the LLM decides WHAT to say and which tools to use. Reflection closes the loop.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thinks out loud: the reasoning trace</a:t>
            </a:r>
            <a:endParaRPr lang="en-US" sz="3200" dirty="0"/>
          </a:p>
        </p:txBody>
      </p:sp>
      <p:sp>
        <p:nvSpPr>
          <p:cNvPr id="3" name="Trace 1 circle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4" name="Trac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726" y="1233526"/>
            <a:ext cx="230429" cy="2304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User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 my day"</a:t>
            </a:r>
            <a:endParaRPr lang="en-US" sz="1400" dirty="0"/>
          </a:p>
        </p:txBody>
      </p:sp>
      <p:sp>
        <p:nvSpPr>
          <p:cNvPr id="7" name="Trace 2 circle"/>
          <p:cNvSpPr/>
          <p:nvPr/>
        </p:nvSpPr>
        <p:spPr>
          <a:xfrm>
            <a:off x="457200" y="169164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Trac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6" y="1782166"/>
            <a:ext cx="230429" cy="23042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Think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memory for weak topics first</a:t>
            </a:r>
            <a:endParaRPr lang="en-US" sz="1400" dirty="0"/>
          </a:p>
        </p:txBody>
      </p:sp>
      <p:sp>
        <p:nvSpPr>
          <p:cNvPr id="11" name="Trace 3 circle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Trac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6" y="2330806"/>
            <a:ext cx="230429" cy="23042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92024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memory_get()</a:t>
            </a:r>
            <a:endParaRPr lang="en-US" sz="1400" dirty="0"/>
          </a:p>
        </p:txBody>
      </p:sp>
      <p:sp>
        <p:nvSpPr>
          <p:cNvPr id="15" name="Trace 4 circle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Trac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6" y="2879446"/>
            <a:ext cx="230429" cy="23042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Observe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920240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arrays, linked-list</a:t>
            </a:r>
            <a:endParaRPr lang="en-US" sz="1400" dirty="0"/>
          </a:p>
        </p:txBody>
      </p:sp>
      <p:sp>
        <p:nvSpPr>
          <p:cNvPr id="19" name="Trace 5 circle"/>
          <p:cNvSpPr/>
          <p:nvPr/>
        </p:nvSpPr>
        <p:spPr>
          <a:xfrm>
            <a:off x="457200" y="33375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Trac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6" y="3428086"/>
            <a:ext cx="230429" cy="23042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05840" y="3337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Act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92024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create_task ×3</a:t>
            </a:r>
            <a:endParaRPr lang="en-US" sz="1400" dirty="0"/>
          </a:p>
        </p:txBody>
      </p:sp>
      <p:sp>
        <p:nvSpPr>
          <p:cNvPr id="23" name="Trace 6 circle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Trac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26" y="3976726"/>
            <a:ext cx="230429" cy="230429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05840" y="3886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Answer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92024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with arrays; try 10 min before a hint"</a:t>
            </a:r>
            <a:endParaRPr lang="en-US" sz="1400" dirty="0"/>
          </a:p>
        </p:txBody>
      </p:sp>
      <p:sp>
        <p:nvSpPr>
          <p:cNvPr id="27" name="Tools card"/>
          <p:cNvSpPr/>
          <p:nvPr/>
        </p:nvSpPr>
        <p:spPr>
          <a:xfrm>
            <a:off x="5303520" y="1143000"/>
            <a:ext cx="338328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553212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tools</a:t>
            </a:r>
            <a:endParaRPr lang="en-US" sz="2000" dirty="0"/>
          </a:p>
        </p:txBody>
      </p:sp>
      <p:sp>
        <p:nvSpPr>
          <p:cNvPr id="29" name="Text 21"/>
          <p:cNvSpPr txBox="1"/>
          <p:nvPr/>
        </p:nvSpPr>
        <p:spPr>
          <a:xfrm>
            <a:off x="5532120" y="1737360"/>
            <a:ext cx="2971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Tasks: create, update, complete, list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Schedule a check-in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Tutor quiz + hint level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Summarize text / PDF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Journal read / write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Memory get / update / remember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Offline challenge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to stay silent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3/day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10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silence budget, adapted 1–4 nightly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07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minimum gap between nudges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05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deliberate silence on minor slips</a:t>
            </a:r>
            <a:endParaRPr lang="en-US" sz="1400" dirty="0"/>
          </a:p>
        </p:txBody>
      </p:sp>
      <p:sp>
        <p:nvSpPr>
          <p:cNvPr id="9" name="Rules card"/>
          <p:cNvSpPr/>
          <p:nvPr/>
        </p:nvSpPr>
        <p:spPr>
          <a:xfrm>
            <a:off x="3931920" y="1188720"/>
            <a:ext cx="47548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160520" y="1325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Triggers, in priority order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78308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Low mood → gentle, always answered (care first)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Morning intention / night review at your times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2+ overdue tasks → firm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Broken streak, low quiz scores → once a day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35661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Never skips twice in a row. The LLM is called only after the policy says speak, which protects the free API quota.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that fades as skill grows</a:t>
            </a:r>
            <a:endParaRPr lang="en-US" sz="3200" dirty="0"/>
          </a:p>
        </p:txBody>
      </p:sp>
      <p:sp>
        <p:nvSpPr>
          <p:cNvPr id="3" name="Rung Question"/>
          <p:cNvSpPr/>
          <p:nvPr/>
        </p:nvSpPr>
        <p:spPr>
          <a:xfrm>
            <a:off x="457200" y="338328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493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Question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Guiding question only</a:t>
            </a:r>
            <a:endParaRPr lang="en-US" sz="1000" dirty="0"/>
          </a:p>
        </p:txBody>
      </p:sp>
      <p:sp>
        <p:nvSpPr>
          <p:cNvPr id="6" name="Rung Hint"/>
          <p:cNvSpPr/>
          <p:nvPr/>
        </p:nvSpPr>
        <p:spPr>
          <a:xfrm>
            <a:off x="1783080" y="2697480"/>
            <a:ext cx="1188720" cy="150876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83080" y="28072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Hint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4297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One concept, no code</a:t>
            </a:r>
            <a:endParaRPr lang="en-US" sz="1000" dirty="0"/>
          </a:p>
        </p:txBody>
      </p:sp>
      <p:sp>
        <p:nvSpPr>
          <p:cNvPr id="9" name="Rung Partial"/>
          <p:cNvSpPr/>
          <p:nvPr/>
        </p:nvSpPr>
        <p:spPr>
          <a:xfrm>
            <a:off x="3108960" y="2011680"/>
            <a:ext cx="1188720" cy="219456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08960" y="21214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Partial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4297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Skeleton with blanks</a:t>
            </a:r>
            <a:endParaRPr lang="en-US" sz="1000" dirty="0"/>
          </a:p>
        </p:txBody>
      </p:sp>
      <p:sp>
        <p:nvSpPr>
          <p:cNvPr id="12" name="Rung Answer"/>
          <p:cNvSpPr/>
          <p:nvPr/>
        </p:nvSpPr>
        <p:spPr>
          <a:xfrm>
            <a:off x="4434840" y="1325880"/>
            <a:ext cx="1188720" cy="2880360"/>
          </a:xfrm>
          <a:prstGeom prst="roundRect">
            <a:avLst>
              <a:gd name="adj" fmla="val 6154"/>
            </a:avLst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1435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Answer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4297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Full solution, then explain it back</a:t>
            </a:r>
            <a:endParaRPr lang="en-US" sz="1000" dirty="0"/>
          </a:p>
        </p:txBody>
      </p:sp>
      <p:sp>
        <p:nvSpPr>
          <p:cNvPr id="15" name="Mastery card"/>
          <p:cNvSpPr/>
          <p:nvPr/>
        </p:nvSpPr>
        <p:spPr>
          <a:xfrm>
            <a:off x="5852160" y="1188720"/>
            <a:ext cx="2834640" cy="32918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035040" y="1325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Mastery caps the ladder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7830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&lt; 40%: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may reach the answer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40–70%: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stops at partial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≥ 70%: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one hint, then "keep struggling"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6"/>
                </a:solidFill>
              </a:rPr>
              <a:t>Hints used lower the mastery credit, so honest effort counts most.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remembers, and it judges itself</a:t>
            </a:r>
            <a:endParaRPr lang="en-US" sz="3200" dirty="0"/>
          </a:p>
        </p:txBody>
      </p:sp>
      <p:sp>
        <p:nvSpPr>
          <p:cNvPr id="3" name="Long-term memory card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Long-term memory circle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Long-term memor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5124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memory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Goals, mastery per topic, streak, mood history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Facts it learns: "best friend Rahul loves cricket"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Memory page: see every fact and its source, delete any</a:t>
            </a:r>
            <a:endParaRPr lang="en-US" sz="1500" dirty="0"/>
          </a:p>
        </p:txBody>
      </p:sp>
      <p:sp>
        <p:nvSpPr>
          <p:cNvPr id="8" name="Nightly self-reflection card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ightly self-reflection circle"/>
          <p:cNvSpPr/>
          <p:nvPr/>
        </p:nvSpPr>
        <p:spPr>
          <a:xfrm>
            <a:off x="4937760" y="13716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Nightly self-reflect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578" y="15124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Nightly self-reflection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4028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Was each nudge followed by action within 2 h?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tone worked: gentle, firm or warm?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Adapts its own budget and writes tomorrow's strategy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a student's day</a:t>
            </a:r>
            <a:endParaRPr lang="en-US" sz="3600" dirty="0"/>
          </a:p>
        </p:txBody>
      </p:sp>
      <p:sp>
        <p:nvSpPr>
          <p:cNvPr id="3" name="Timeline line"/>
          <p:cNvSpPr/>
          <p:nvPr/>
        </p:nvSpPr>
        <p:spPr>
          <a:xfrm>
            <a:off x="1097280" y="2606040"/>
            <a:ext cx="6949440" cy="0"/>
          </a:xfrm>
          <a:prstGeom prst="line">
            <a:avLst/>
          </a:prstGeom>
          <a:noFill/>
          <a:ln w="25400">
            <a:solidFill>
              <a:srgbClr val="8C86C9"/>
            </a:solidFill>
            <a:prstDash val="solid"/>
          </a:ln>
        </p:spPr>
      </p:sp>
      <p:sp>
        <p:nvSpPr>
          <p:cNvPr id="4" name="Dot 07:05"/>
          <p:cNvSpPr/>
          <p:nvPr/>
        </p:nvSpPr>
        <p:spPr>
          <a:xfrm>
            <a:off x="969264" y="247802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07:05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Morning intention</a:t>
            </a:r>
            <a:endParaRPr lang="en-US" sz="1400" dirty="0"/>
          </a:p>
        </p:txBody>
      </p:sp>
      <p:sp>
        <p:nvSpPr>
          <p:cNvPr id="7" name="Dot 10:30"/>
          <p:cNvSpPr/>
          <p:nvPr/>
        </p:nvSpPr>
        <p:spPr>
          <a:xfrm>
            <a:off x="2359152" y="247802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47088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10:30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Tutor, fading hints</a:t>
            </a:r>
            <a:endParaRPr lang="en-US" sz="1400" dirty="0"/>
          </a:p>
        </p:txBody>
      </p:sp>
      <p:sp>
        <p:nvSpPr>
          <p:cNvPr id="10" name="Dot 12:30"/>
          <p:cNvSpPr/>
          <p:nvPr/>
        </p:nvSpPr>
        <p:spPr>
          <a:xfrm>
            <a:off x="3749040" y="2478024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36976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12:30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36976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Chooses silence</a:t>
            </a:r>
            <a:endParaRPr lang="en-US" sz="1400" dirty="0"/>
          </a:p>
        </p:txBody>
      </p:sp>
      <p:sp>
        <p:nvSpPr>
          <p:cNvPr id="13" name="Dot 14:30"/>
          <p:cNvSpPr/>
          <p:nvPr/>
        </p:nvSpPr>
        <p:spPr>
          <a:xfrm>
            <a:off x="5138928" y="247802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26864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14:30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Firm nudge</a:t>
            </a:r>
            <a:endParaRPr lang="en-US" sz="1400" dirty="0"/>
          </a:p>
        </p:txBody>
      </p:sp>
      <p:sp>
        <p:nvSpPr>
          <p:cNvPr id="16" name="Dot 19:05"/>
          <p:cNvSpPr/>
          <p:nvPr/>
        </p:nvSpPr>
        <p:spPr>
          <a:xfrm>
            <a:off x="6528816" y="247802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16752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19:05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016752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Low mood: gentle</a:t>
            </a:r>
            <a:endParaRPr lang="en-US" sz="1400" dirty="0"/>
          </a:p>
        </p:txBody>
      </p:sp>
      <p:sp>
        <p:nvSpPr>
          <p:cNvPr id="19" name="Dot 23:30"/>
          <p:cNvSpPr/>
          <p:nvPr/>
        </p:nvSpPr>
        <p:spPr>
          <a:xfrm>
            <a:off x="7918704" y="247802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0664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23:30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Self-reflection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The real policy, agent, tools, tutor and reflection run on a simulated clock. Works offline.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far fewer messages, no lost care</a:t>
            </a:r>
            <a:endParaRPr lang="en-US" sz="3200" dirty="0"/>
          </a:p>
        </p:txBody>
      </p:sp>
      <p:graphicFrame>
        <p:nvGraphicFramePr>
          <p:cNvPr id="3" name="Messages per day chart" descr=""/>
          <p:cNvGraphicFramePr/>
          <p:nvPr/>
        </p:nvGraphicFramePr>
        <p:xfrm>
          <a:off x="45720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143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709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of low-mood moments answered within an hour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286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18×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852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fewer messages than an always-nudge bot (struggling student)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429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995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automated tests, incl. a full simulated 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evaluation caught a real bug</a:t>
            </a:r>
            <a:endParaRPr lang="en-US" sz="3200" dirty="0"/>
          </a:p>
        </p:txBody>
      </p:sp>
      <p:sp>
        <p:nvSpPr>
          <p:cNvPr id="3" name="Before card"/>
          <p:cNvSpPr/>
          <p:nvPr/>
        </p:nvSpPr>
        <p:spPr>
          <a:xfrm>
            <a:off x="457200" y="1234440"/>
            <a:ext cx="38862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low-mood moments answered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Struggling student: quiz nudges spent the daily budget, so Dotbot was silent when mood dropped.</a:t>
            </a:r>
            <a:endParaRPr lang="en-US" sz="1500" dirty="0"/>
          </a:p>
        </p:txBody>
      </p:sp>
      <p:sp>
        <p:nvSpPr>
          <p:cNvPr id="8" name="After card"/>
          <p:cNvSpPr/>
          <p:nvPr/>
        </p:nvSpPr>
        <p:spPr>
          <a:xfrm>
            <a:off x="4800600" y="1234440"/>
            <a:ext cx="38862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After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783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low-mood moments answered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108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Care first: low mood bypasses budget and gap; one-shot nudges fire once a day.</a:t>
            </a:r>
            <a:endParaRPr lang="en-US" sz="1500" dirty="0"/>
          </a:p>
        </p:txBody>
      </p:sp>
      <p:sp>
        <p:nvSpPr>
          <p:cNvPr id="13" name="Fix arrow"/>
          <p:cNvSpPr/>
          <p:nvPr/>
        </p:nvSpPr>
        <p:spPr>
          <a:xfrm>
            <a:off x="4407408" y="2606040"/>
            <a:ext cx="320040" cy="365760"/>
          </a:xfrm>
          <a:prstGeom prst="rightArrow">
            <a:avLst/>
          </a:prstGeom>
          <a:solidFill>
            <a:srgbClr val="C9C5E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Private, honest, and not a crutch</a:t>
            </a:r>
            <a:endParaRPr lang="en-US" sz="3200" dirty="0"/>
          </a:p>
        </p:txBody>
      </p:sp>
      <p:sp>
        <p:nvSpPr>
          <p:cNvPr id="3" name="On-device first circle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On-device fir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132953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first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57276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SQLite on the phone; API key in secure storage; offline mode sends nothing</a:t>
            </a:r>
            <a:endParaRPr lang="en-US" sz="1400" dirty="0"/>
          </a:p>
        </p:txBody>
      </p:sp>
      <p:sp>
        <p:nvSpPr>
          <p:cNvPr id="7" name="Explainable circle"/>
          <p:cNvSpPr/>
          <p:nvPr/>
        </p:nvSpPr>
        <p:spPr>
          <a:xfrm>
            <a:off x="4663440" y="1188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Explainabl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258" y="1329538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157276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Reasoning trace on every reply and a log of every speak/silence decision</a:t>
            </a:r>
            <a:endParaRPr lang="en-US" sz="1400" dirty="0"/>
          </a:p>
        </p:txBody>
      </p:sp>
      <p:sp>
        <p:nvSpPr>
          <p:cNvPr id="11" name="You own your data circle"/>
          <p:cNvSpPr/>
          <p:nvPr/>
        </p:nvSpPr>
        <p:spPr>
          <a:xfrm>
            <a:off x="457200" y="2834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You own your data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2975458"/>
            <a:ext cx="358445" cy="35844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own your data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21868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Memory page with per-item delete and "forget everything"</a:t>
            </a:r>
            <a:endParaRPr lang="en-US" sz="1400" dirty="0"/>
          </a:p>
        </p:txBody>
      </p:sp>
      <p:sp>
        <p:nvSpPr>
          <p:cNvPr id="15" name="People first circle"/>
          <p:cNvSpPr/>
          <p:nvPr/>
        </p:nvSpPr>
        <p:spPr>
          <a:xfrm>
            <a:off x="4663440" y="2834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eople firs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258" y="2975458"/>
            <a:ext cx="358445" cy="35844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first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0" y="321868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When lonely: brief comfort, then "call a friend, go outside". Never claims to be human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like a real product</a:t>
            </a:r>
            <a:endParaRPr lang="en-US" sz="3200" dirty="0"/>
          </a:p>
        </p:txBody>
      </p:sp>
      <p:sp>
        <p:nvSpPr>
          <p:cNvPr id="3" name="Flutter card"/>
          <p:cNvSpPr/>
          <p:nvPr/>
        </p:nvSpPr>
        <p:spPr>
          <a:xfrm>
            <a:off x="457200" y="1234440"/>
            <a:ext cx="1920240" cy="3108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lutter circle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lutt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5937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codebase: Android + Windows, Material 3, dark/light</a:t>
            </a:r>
            <a:endParaRPr lang="en-US" sz="1400" dirty="0"/>
          </a:p>
        </p:txBody>
      </p:sp>
      <p:sp>
        <p:nvSpPr>
          <p:cNvPr id="8" name="Local-first card"/>
          <p:cNvSpPr/>
          <p:nvPr/>
        </p:nvSpPr>
        <p:spPr>
          <a:xfrm>
            <a:off x="2560320" y="1234440"/>
            <a:ext cx="1920240" cy="3108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Local-first circle"/>
          <p:cNvSpPr/>
          <p:nvPr/>
        </p:nvSpPr>
        <p:spPr>
          <a:xfrm>
            <a:off x="2788920" y="14630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Local-firs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679" y="15937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69748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Riverpod, drift/SQLite, secure storage, WorkManager</a:t>
            </a:r>
            <a:endParaRPr lang="en-US" sz="1400" dirty="0"/>
          </a:p>
        </p:txBody>
      </p:sp>
      <p:sp>
        <p:nvSpPr>
          <p:cNvPr id="13" name="Any LLM card"/>
          <p:cNvSpPr/>
          <p:nvPr/>
        </p:nvSpPr>
        <p:spPr>
          <a:xfrm>
            <a:off x="4663440" y="1234440"/>
            <a:ext cx="1920240" cy="3108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ny LLM circle"/>
          <p:cNvSpPr/>
          <p:nvPr/>
        </p:nvSpPr>
        <p:spPr>
          <a:xfrm>
            <a:off x="4892040" y="14630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Any LLM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799" y="15937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LLM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269748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Gemini, Groq (OpenAI-compatible) or offline demo brain</a:t>
            </a:r>
            <a:endParaRPr lang="en-US" sz="1400" dirty="0"/>
          </a:p>
        </p:txBody>
      </p:sp>
      <p:sp>
        <p:nvSpPr>
          <p:cNvPr id="18" name="Quality card"/>
          <p:cNvSpPr/>
          <p:nvPr/>
        </p:nvSpPr>
        <p:spPr>
          <a:xfrm>
            <a:off x="6766560" y="1234440"/>
            <a:ext cx="1920240" cy="3108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Quality circle"/>
          <p:cNvSpPr/>
          <p:nvPr/>
        </p:nvSpPr>
        <p:spPr>
          <a:xfrm>
            <a:off x="6995160" y="14630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Qualit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919" y="15937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269748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61 tests, GitHub Actions CI builds APK + Windows zip on every push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what's next</a:t>
            </a:r>
            <a:endParaRPr lang="en-US" sz="3200" dirty="0"/>
          </a:p>
        </p:txBody>
      </p:sp>
      <p:sp>
        <p:nvSpPr>
          <p:cNvPr id="3" name="Limitations 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Evaluation is a simulation, not a user study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Windows checks in only while the app is open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Free-tier LLM quotas limit long conversations</a:t>
            </a:r>
            <a:endParaRPr lang="en-US" sz="1500" dirty="0"/>
          </a:p>
        </p:txBody>
      </p:sp>
      <p:sp>
        <p:nvSpPr>
          <p:cNvPr id="6" name="Roadmap 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8288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2-week pilot with classmates (pre/post survey)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Learn the best hours to reach each user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Relationship reminders: call family and friends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Health routines, Hinglish voice, encrypted sync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when it matters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Quiet when it doesn't. Gone when you're ready.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Thank you · Questions?</a:t>
            </a:r>
            <a:endParaRPr lang="en-US" sz="2000" dirty="0"/>
          </a:p>
        </p:txBody>
      </p:sp>
      <p:sp>
        <p:nvSpPr>
          <p:cNvPr id="4" name="Logo circle"/>
          <p:cNvSpPr/>
          <p:nvPr/>
        </p:nvSpPr>
        <p:spPr>
          <a:xfrm>
            <a:off x="7498080" y="4572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365" y="678485"/>
            <a:ext cx="563270" cy="563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otbot Night">
  <a:themeElements>
    <a:clrScheme name="Dotbot Night">
      <a:dk1>
        <a:srgbClr val="1C1B29"/>
      </a:dk1>
      <a:lt1>
        <a:srgbClr val="FFFFFF"/>
      </a:lt1>
      <a:dk2>
        <a:srgbClr val="23204A"/>
      </a:dk2>
      <a:lt2>
        <a:srgbClr val="F1EFFA"/>
      </a:lt2>
      <a:accent1>
        <a:srgbClr val="4B3FB8"/>
      </a:accent1>
      <a:accent2>
        <a:srgbClr val="F2A65A"/>
      </a:accent2>
      <a:accent3>
        <a:srgbClr val="2E9E83"/>
      </a:accent3>
      <a:accent4>
        <a:srgbClr val="D9546B"/>
      </a:accent4>
      <a:accent5>
        <a:srgbClr val="8C86C9"/>
      </a:accent5>
      <a:accent6>
        <a:srgbClr val="6B6880"/>
      </a:accent6>
      <a:hlink>
        <a:srgbClr val="4B3FB8"/>
      </a:hlink>
      <a:folHlink>
        <a:srgbClr val="8C86C9"/>
      </a:folHlink>
    </a:clrScheme>
    <a:fontScheme name="Dotbot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Dotbot: an AI mentor agent</dc:title>
  <dc:subject>PptxGenJS Presentation</dc:subject>
  <dc:creator>Aamir</dc:creator>
  <cp:lastModifiedBy>Aamir</cp:lastModifiedBy>
  <cp:revision>1</cp:revision>
  <dcterms:created xsi:type="dcterms:W3CDTF">2026-10-11T17:06:28Z</dcterms:created>
  <dcterms:modified xsi:type="dcterms:W3CDTF">2026-10-11T17:06:28Z</dcterms:modified>
</cp:coreProperties>
</file>